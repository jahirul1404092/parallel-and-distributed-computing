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15"/>
  </p:notesMasterIdLst>
  <p:sldIdLst>
    <p:sldId id="302" r:id="rId2"/>
    <p:sldId id="375" r:id="rId3"/>
    <p:sldId id="329" r:id="rId4"/>
    <p:sldId id="415" r:id="rId5"/>
    <p:sldId id="416" r:id="rId6"/>
    <p:sldId id="376" r:id="rId7"/>
    <p:sldId id="414" r:id="rId8"/>
    <p:sldId id="408" r:id="rId9"/>
    <p:sldId id="411" r:id="rId10"/>
    <p:sldId id="413" r:id="rId11"/>
    <p:sldId id="412" r:id="rId12"/>
    <p:sldId id="369" r:id="rId13"/>
    <p:sldId id="407" r:id="rId14"/>
  </p:sldIdLst>
  <p:sldSz cx="9144000" cy="5143500" type="screen16x9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84E291"/>
    <a:srgbClr val="A6CAEC"/>
    <a:srgbClr val="A5A5A5"/>
    <a:srgbClr val="FFFF00"/>
    <a:srgbClr val="FFC000"/>
    <a:srgbClr val="C55A11"/>
    <a:srgbClr val="1E0909"/>
    <a:srgbClr val="A9D18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20"/>
  </p:normalViewPr>
  <p:slideViewPr>
    <p:cSldViewPr snapToGrid="0">
      <p:cViewPr varScale="1">
        <p:scale>
          <a:sx n="103" d="100"/>
          <a:sy n="103" d="100"/>
        </p:scale>
        <p:origin x="11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7B6C1-C7FA-4972-ADA3-CC42B448C30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A347D-D72C-4510-B8D9-FC0B03AD9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29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B4A4D-0B5D-96AE-46FF-DBA49A7F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94976-530F-0D9B-3126-5F028E332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1BF02-10F4-868E-0972-0078FFF25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C131B-BB04-67F6-5C18-1F4917C00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9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5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E3ED-4893-7C81-7CB1-91A367D7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A6EDC-41BC-0FA8-4657-31A5A8E7B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CD6C2-7237-10E0-5C44-5C0AFEA4E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0F59A-C94F-5133-61E4-B14AE9787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40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562AD-2CFE-2934-2572-25634DFE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3960E-53A1-55D4-C816-93D75D0DC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08D4E-97FA-4135-88C8-BC0B0A5A0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C03C6-26C2-FDB4-1129-DE5635131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23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CAB3-BEA4-E0B2-D363-798AC5EB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A6749-6176-0C71-02DD-FB5D2508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7B171-D0A1-AAE2-B53E-EA6F6EFFD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FAD5F-B4A5-29B1-1C08-39F423B2B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1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5238-6B76-3197-95F4-29A57218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A1652-4E5E-1425-F001-5BE278559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90CBB-9102-0BE7-E7CD-72F8CE264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A21FE-5961-CB2F-A25E-DE10B3805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41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83DD-730A-9657-EB90-4B457346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90693-33C9-24BF-966A-1A5E174AE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06D05-35EA-AA1C-18D4-A1A5F1853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E6B9-B9E3-A106-C1B5-7844252A8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347D-D72C-4510-B8D9-FC0B03AD91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3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3838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38296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8632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563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779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2DEF1-929A-4203-9328-FDAB569E4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79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613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076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379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1113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8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  <a:buNone/>
            </a:pPr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007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50B28-B0A5-81BA-F1CE-E0DBA9B1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1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339E3F8-5E6C-F66B-99C7-808F08B35523}"/>
              </a:ext>
            </a:extLst>
          </p:cNvPr>
          <p:cNvSpPr txBox="1">
            <a:spLocks/>
          </p:cNvSpPr>
          <p:nvPr/>
        </p:nvSpPr>
        <p:spPr>
          <a:xfrm>
            <a:off x="478069" y="856736"/>
            <a:ext cx="8457651" cy="137265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Programming Using </a:t>
            </a:r>
            <a:r>
              <a:rPr lang="en-US" sz="40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Pthread</a:t>
            </a:r>
            <a:endParaRPr lang="en-US" sz="14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endParaRPr lang="en-US" sz="14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9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Project Presentation for </a:t>
            </a:r>
          </a:p>
          <a:p>
            <a:pPr algn="ctr">
              <a:lnSpc>
                <a:spcPct val="100000"/>
              </a:lnSpc>
            </a:pPr>
            <a:r>
              <a:rPr lang="en-US" sz="2900" spc="-1" dirty="0">
                <a:solidFill>
                  <a:srgbClr val="000000"/>
                </a:solidFill>
                <a:latin typeface="Arial"/>
                <a:cs typeface="Arial"/>
              </a:rPr>
              <a:t>CS 8172 –Parallel-Distributed Computing-Fall 2025</a:t>
            </a:r>
            <a:endParaRPr lang="en-US" sz="2900" b="1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endParaRPr lang="en-US" sz="20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781950D7-435B-F286-1EBC-6C4048D403AE}"/>
              </a:ext>
            </a:extLst>
          </p:cNvPr>
          <p:cNvSpPr txBox="1">
            <a:spLocks/>
          </p:cNvSpPr>
          <p:nvPr/>
        </p:nvSpPr>
        <p:spPr>
          <a:xfrm>
            <a:off x="208280" y="2703761"/>
            <a:ext cx="8727440" cy="558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rgbClr val="000000"/>
                </a:solidFill>
              </a:rPr>
              <a:t>Md Jahirul Islam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00"/>
                </a:solidFill>
              </a:rPr>
              <a:t>001120708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000000"/>
                </a:solidFill>
              </a:rPr>
              <a:t>Kennesaw State University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2089381E-8A09-7EB0-4468-D71E1531DC20}"/>
              </a:ext>
            </a:extLst>
          </p:cNvPr>
          <p:cNvSpPr txBox="1">
            <a:spLocks/>
          </p:cNvSpPr>
          <p:nvPr/>
        </p:nvSpPr>
        <p:spPr>
          <a:xfrm>
            <a:off x="208280" y="3477618"/>
            <a:ext cx="8727440" cy="1022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Course Instructor</a:t>
            </a:r>
            <a:endParaRPr lang="en-US" sz="1600" dirty="0">
              <a:solidFill>
                <a:srgbClr val="000000"/>
              </a:solidFill>
            </a:endParaRP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00"/>
                </a:solidFill>
              </a:rPr>
              <a:t>Dr. Bobin Deng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/>
          </a:p>
        </p:txBody>
      </p:sp>
      <p:pic>
        <p:nvPicPr>
          <p:cNvPr id="1026" name="Picture 2" descr="KSU | Faculty Web - Capstone projects for Industry">
            <a:extLst>
              <a:ext uri="{FF2B5EF4-FFF2-40B4-BE49-F238E27FC236}">
                <a16:creationId xmlns:a16="http://schemas.microsoft.com/office/drawing/2014/main" id="{2A337275-B665-5B39-B773-8E33D54FE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960" y="4329549"/>
            <a:ext cx="1528704" cy="42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74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64CF4-B1AE-FCAD-BD20-514491AD9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B45780BA-39CD-6C8E-5A4B-0B31BC27A588}"/>
              </a:ext>
            </a:extLst>
          </p:cNvPr>
          <p:cNvSpPr txBox="1">
            <a:spLocks/>
          </p:cNvSpPr>
          <p:nvPr/>
        </p:nvSpPr>
        <p:spPr>
          <a:xfrm>
            <a:off x="257594" y="-87684"/>
            <a:ext cx="2513173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000" b="1" kern="1200" spc="-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Presentation Outline</a:t>
            </a:r>
          </a:p>
        </p:txBody>
      </p:sp>
      <p:sp>
        <p:nvSpPr>
          <p:cNvPr id="6" name="コンテンツ プレースホルダー 3">
            <a:extLst>
              <a:ext uri="{FF2B5EF4-FFF2-40B4-BE49-F238E27FC236}">
                <a16:creationId xmlns:a16="http://schemas.microsoft.com/office/drawing/2014/main" id="{A4E0E9CF-DCC6-B070-A5AA-A31169497F24}"/>
              </a:ext>
            </a:extLst>
          </p:cNvPr>
          <p:cNvSpPr>
            <a:spLocks noGrp="1"/>
          </p:cNvSpPr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Introduction</a:t>
            </a:r>
            <a:r>
              <a:rPr lang="en-US" altLang="ja-JP" sz="2000" u="dashHeavy" baseline="42000" dirty="0">
                <a:latin typeface="+mn-lt"/>
                <a:ea typeface="+mn-ea"/>
              </a:rPr>
              <a:t>	</a:t>
            </a:r>
            <a:r>
              <a:rPr lang="en-US" altLang="ja-JP" sz="2000" dirty="0">
                <a:latin typeface="+mn-lt"/>
                <a:ea typeface="+mn-ea"/>
              </a:rPr>
              <a:t> 3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Methodology &amp; Experimental setup</a:t>
            </a:r>
            <a:r>
              <a:rPr lang="en-US" altLang="ja-JP" sz="1500" u="dashHeavy" baseline="42000" dirty="0">
                <a:latin typeface="+mn-lt"/>
                <a:ea typeface="+mn-ea"/>
              </a:rPr>
              <a:t>	</a:t>
            </a:r>
            <a:r>
              <a:rPr lang="en-US" altLang="ja-JP" sz="1500" dirty="0">
                <a:latin typeface="+mn-lt"/>
                <a:ea typeface="+mn-ea"/>
              </a:rPr>
              <a:t> </a:t>
            </a:r>
            <a:r>
              <a:rPr lang="en-US" altLang="ja-JP" sz="2000" dirty="0">
                <a:latin typeface="+mn-lt"/>
                <a:ea typeface="+mn-ea"/>
              </a:rPr>
              <a:t>6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Result analysis</a:t>
            </a:r>
            <a:r>
              <a:rPr lang="en-US" altLang="ja-JP" sz="1500" u="dashHeavy" baseline="42000" dirty="0">
                <a:latin typeface="+mn-lt"/>
                <a:ea typeface="+mn-ea"/>
              </a:rPr>
              <a:t>	</a:t>
            </a:r>
            <a:r>
              <a:rPr lang="en-US" altLang="ja-JP" sz="1500" dirty="0">
                <a:latin typeface="+mn-lt"/>
                <a:ea typeface="+mn-ea"/>
              </a:rPr>
              <a:t> </a:t>
            </a:r>
            <a:r>
              <a:rPr lang="en-US" altLang="ja-JP" sz="2000" dirty="0">
                <a:latin typeface="+mn-lt"/>
                <a:ea typeface="+mn-ea"/>
              </a:rPr>
              <a:t>8</a:t>
            </a:r>
          </a:p>
          <a:p>
            <a:pPr indent="-228600">
              <a:lnSpc>
                <a:spcPct val="90000"/>
              </a:lnSpc>
              <a:spcBef>
                <a:spcPts val="400"/>
              </a:spcBef>
              <a:tabLst>
                <a:tab pos="10229850" algn="r"/>
              </a:tabLst>
            </a:pPr>
            <a:r>
              <a:rPr lang="en-US" altLang="ja-JP" sz="2000" dirty="0">
                <a:latin typeface="+mn-lt"/>
                <a:ea typeface="+mn-ea"/>
              </a:rPr>
              <a:t>Conclusion </a:t>
            </a:r>
            <a:r>
              <a:rPr lang="en-US" altLang="ja-JP" sz="1500" u="dashHeavy" baseline="42000" dirty="0">
                <a:latin typeface="+mn-lt"/>
                <a:ea typeface="+mn-ea"/>
              </a:rPr>
              <a:t>	</a:t>
            </a:r>
            <a:r>
              <a:rPr lang="en-US" altLang="ja-JP" sz="1500" dirty="0">
                <a:latin typeface="+mn-lt"/>
                <a:ea typeface="+mn-ea"/>
              </a:rPr>
              <a:t> </a:t>
            </a:r>
            <a:r>
              <a:rPr lang="en-US" altLang="ja-JP" sz="2000" dirty="0">
                <a:latin typeface="+mn-lt"/>
                <a:ea typeface="+mn-ea"/>
              </a:rPr>
              <a:t>12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25194-1529-9946-46CD-95374281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4841748"/>
            <a:ext cx="336042" cy="273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800D1F9-51D4-4914-8E0D-DC54B3A97F46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38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50B28-B0A5-81BA-F1CE-E0DBA9B1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3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339E3F8-5E6C-F66B-99C7-808F08B35523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 (Problem Description)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482478-DAF9-DB21-2C73-1E4FE543F288}"/>
              </a:ext>
            </a:extLst>
          </p:cNvPr>
          <p:cNvCxnSpPr/>
          <p:nvPr/>
        </p:nvCxnSpPr>
        <p:spPr>
          <a:xfrm>
            <a:off x="125984" y="456406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DE6BF00-F074-6ECA-7ABA-A0E839884AA1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F16F4-09DD-A76A-CC60-71D93CBD0B1D}"/>
              </a:ext>
            </a:extLst>
          </p:cNvPr>
          <p:cNvSpPr txBox="1"/>
          <p:nvPr/>
        </p:nvSpPr>
        <p:spPr>
          <a:xfrm>
            <a:off x="1565236" y="564351"/>
            <a:ext cx="6013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Substring matching Using parallel multiprogramming</a:t>
            </a:r>
            <a:endParaRPr lang="en-US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D1BB1B-4BF7-12B0-E65D-A680F911B78B}"/>
              </a:ext>
            </a:extLst>
          </p:cNvPr>
          <p:cNvSpPr txBox="1"/>
          <p:nvPr/>
        </p:nvSpPr>
        <p:spPr>
          <a:xfrm>
            <a:off x="1419921" y="1328921"/>
            <a:ext cx="45943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#_of_substring(“abcdab”, “ab”) = 2, </a:t>
            </a:r>
          </a:p>
          <a:p>
            <a:endParaRPr lang="en-US" dirty="0"/>
          </a:p>
          <a:p>
            <a:r>
              <a:rPr lang="en-US" dirty="0"/>
              <a:t>#_of _substring(“</a:t>
            </a:r>
            <a:r>
              <a:rPr lang="en-US" dirty="0" err="1"/>
              <a:t>aaa</a:t>
            </a:r>
            <a:r>
              <a:rPr lang="en-US" dirty="0"/>
              <a:t>”, “a”) = 3, </a:t>
            </a:r>
          </a:p>
          <a:p>
            <a:endParaRPr lang="en-US" dirty="0"/>
          </a:p>
          <a:p>
            <a:r>
              <a:rPr lang="en-US" dirty="0"/>
              <a:t>#_of _substring(“</a:t>
            </a:r>
            <a:r>
              <a:rPr lang="en-US" dirty="0" err="1"/>
              <a:t>abac</a:t>
            </a:r>
            <a:r>
              <a:rPr lang="en-US" dirty="0"/>
              <a:t>”, “</a:t>
            </a:r>
            <a:r>
              <a:rPr lang="en-US" dirty="0" err="1"/>
              <a:t>bc</a:t>
            </a:r>
            <a:r>
              <a:rPr lang="en-US" dirty="0"/>
              <a:t>”) = 0. </a:t>
            </a:r>
          </a:p>
        </p:txBody>
      </p:sp>
    </p:spTree>
    <p:extLst>
      <p:ext uri="{BB962C8B-B14F-4D97-AF65-F5344CB8AC3E}">
        <p14:creationId xmlns:p14="http://schemas.microsoft.com/office/powerpoint/2010/main" val="978240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8845-32B1-7725-CAB8-1F478641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8DA314-782D-2E35-82F6-D8846899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4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A0865077-FA10-A6B1-01D0-1A82DCF68678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514DED-548A-9EF1-F32F-C437B15110B3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2986D17-409A-966A-7835-5247316F3BC2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EA0B9-6945-0273-0BEE-84C191A682D5}"/>
              </a:ext>
            </a:extLst>
          </p:cNvPr>
          <p:cNvSpPr txBox="1"/>
          <p:nvPr/>
        </p:nvSpPr>
        <p:spPr>
          <a:xfrm>
            <a:off x="308603" y="1345296"/>
            <a:ext cx="85051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Sequential programming: instructions are executed one after another in a linear way. A single thread of control handles all tasks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Parallel Computation: execute multiple tasks or parts of a single task simultaneously using multiprocessing and or multithreading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Pthread</a:t>
            </a:r>
            <a:r>
              <a:rPr lang="en-US" sz="2000" dirty="0"/>
              <a:t>: multithreading programming API in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078BF-EE6D-850C-847E-0E33CB84A31B}"/>
              </a:ext>
            </a:extLst>
          </p:cNvPr>
          <p:cNvSpPr txBox="1"/>
          <p:nvPr/>
        </p:nvSpPr>
        <p:spPr>
          <a:xfrm>
            <a:off x="1554434" y="475904"/>
            <a:ext cx="6013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b="1" u="sng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Pthread</a:t>
            </a:r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Sequential and Parallel programming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132292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947F-5609-7BB4-455D-564B510D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18FB0-8497-554D-BBBE-3144088B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5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4B015FD-859D-B524-E542-4B9C2CB21B34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DCBD6A-FBFE-19DC-64EF-D3A2F6531B3D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E3E5220-F764-A7F7-2E0F-0733E4DA2652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CBDEB-3D67-8BE4-F915-B8139A33EF53}"/>
              </a:ext>
            </a:extLst>
          </p:cNvPr>
          <p:cNvSpPr txBox="1"/>
          <p:nvPr/>
        </p:nvSpPr>
        <p:spPr>
          <a:xfrm>
            <a:off x="1554434" y="475904"/>
            <a:ext cx="6013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Sequential vs Parallel threading</a:t>
            </a:r>
            <a:endParaRPr lang="en-US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50441-14BD-B814-C5AB-5EEDECFC6789}"/>
              </a:ext>
            </a:extLst>
          </p:cNvPr>
          <p:cNvSpPr/>
          <p:nvPr/>
        </p:nvSpPr>
        <p:spPr>
          <a:xfrm>
            <a:off x="609600" y="1494263"/>
            <a:ext cx="3337932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7E6968-6CBB-9423-4ADD-6D359CD2DC26}"/>
              </a:ext>
            </a:extLst>
          </p:cNvPr>
          <p:cNvSpPr/>
          <p:nvPr/>
        </p:nvSpPr>
        <p:spPr>
          <a:xfrm>
            <a:off x="4949190" y="1494262"/>
            <a:ext cx="356616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9C2361-203E-718F-7D24-D6AFC8AD655F}"/>
              </a:ext>
            </a:extLst>
          </p:cNvPr>
          <p:cNvSpPr/>
          <p:nvPr/>
        </p:nvSpPr>
        <p:spPr>
          <a:xfrm>
            <a:off x="4949190" y="2055997"/>
            <a:ext cx="109728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 task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BFA17-54BF-54BB-D96F-1DFCBFB61B57}"/>
              </a:ext>
            </a:extLst>
          </p:cNvPr>
          <p:cNvSpPr/>
          <p:nvPr/>
        </p:nvSpPr>
        <p:spPr>
          <a:xfrm>
            <a:off x="6199613" y="2055997"/>
            <a:ext cx="109728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 task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64E513-7847-F373-6E33-FFBA8C222D9B}"/>
              </a:ext>
            </a:extLst>
          </p:cNvPr>
          <p:cNvSpPr/>
          <p:nvPr/>
        </p:nvSpPr>
        <p:spPr>
          <a:xfrm>
            <a:off x="7418070" y="2055996"/>
            <a:ext cx="1097280" cy="21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 task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AE6CE9-60BC-5981-E6EF-DA9D1588310A}"/>
              </a:ext>
            </a:extLst>
          </p:cNvPr>
          <p:cNvCxnSpPr/>
          <p:nvPr/>
        </p:nvCxnSpPr>
        <p:spPr>
          <a:xfrm>
            <a:off x="2259981" y="1792083"/>
            <a:ext cx="0" cy="5352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1A80AB-8123-2014-3B65-59D9F3BD25C4}"/>
              </a:ext>
            </a:extLst>
          </p:cNvPr>
          <p:cNvCxnSpPr>
            <a:cxnSpLocks/>
          </p:cNvCxnSpPr>
          <p:nvPr/>
        </p:nvCxnSpPr>
        <p:spPr>
          <a:xfrm>
            <a:off x="5497830" y="2327342"/>
            <a:ext cx="0" cy="38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64DCCF-37A3-20AB-68B4-93664590C4AA}"/>
              </a:ext>
            </a:extLst>
          </p:cNvPr>
          <p:cNvCxnSpPr>
            <a:cxnSpLocks/>
          </p:cNvCxnSpPr>
          <p:nvPr/>
        </p:nvCxnSpPr>
        <p:spPr>
          <a:xfrm>
            <a:off x="6763400" y="2327341"/>
            <a:ext cx="0" cy="38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B83281-4F5C-2AC7-E6F7-60931A997E5E}"/>
              </a:ext>
            </a:extLst>
          </p:cNvPr>
          <p:cNvCxnSpPr>
            <a:cxnSpLocks/>
          </p:cNvCxnSpPr>
          <p:nvPr/>
        </p:nvCxnSpPr>
        <p:spPr>
          <a:xfrm>
            <a:off x="8044025" y="2331284"/>
            <a:ext cx="0" cy="38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4D02D2-D1C9-D14D-9606-EACE5552DF72}"/>
              </a:ext>
            </a:extLst>
          </p:cNvPr>
          <p:cNvSpPr txBox="1"/>
          <p:nvPr/>
        </p:nvSpPr>
        <p:spPr>
          <a:xfrm>
            <a:off x="1797090" y="2520401"/>
            <a:ext cx="925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Thread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6D7C07-A7A3-7066-2E57-344B587D2D04}"/>
              </a:ext>
            </a:extLst>
          </p:cNvPr>
          <p:cNvCxnSpPr>
            <a:cxnSpLocks/>
          </p:cNvCxnSpPr>
          <p:nvPr/>
        </p:nvCxnSpPr>
        <p:spPr>
          <a:xfrm>
            <a:off x="2259981" y="2889733"/>
            <a:ext cx="0" cy="2995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F6BA37-6ABC-6C27-E913-F8050C9A56B6}"/>
              </a:ext>
            </a:extLst>
          </p:cNvPr>
          <p:cNvSpPr txBox="1"/>
          <p:nvPr/>
        </p:nvSpPr>
        <p:spPr>
          <a:xfrm>
            <a:off x="1709623" y="3259065"/>
            <a:ext cx="113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Compute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B5A5F-9F96-8929-D0D3-6ACFE9ADEFD8}"/>
              </a:ext>
            </a:extLst>
          </p:cNvPr>
          <p:cNvSpPr txBox="1"/>
          <p:nvPr/>
        </p:nvSpPr>
        <p:spPr>
          <a:xfrm>
            <a:off x="4949190" y="3248982"/>
            <a:ext cx="113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Compute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38817A-2652-841F-992F-38DBA30AF78F}"/>
              </a:ext>
            </a:extLst>
          </p:cNvPr>
          <p:cNvSpPr txBox="1"/>
          <p:nvPr/>
        </p:nvSpPr>
        <p:spPr>
          <a:xfrm>
            <a:off x="5034939" y="2720456"/>
            <a:ext cx="925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Thread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15B262-8B94-BADF-7CA8-9764C1BCD23C}"/>
              </a:ext>
            </a:extLst>
          </p:cNvPr>
          <p:cNvSpPr txBox="1"/>
          <p:nvPr/>
        </p:nvSpPr>
        <p:spPr>
          <a:xfrm>
            <a:off x="6285362" y="2695567"/>
            <a:ext cx="925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Thread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2D382A-4B7A-7199-791B-A5EB329C56CE}"/>
              </a:ext>
            </a:extLst>
          </p:cNvPr>
          <p:cNvSpPr txBox="1"/>
          <p:nvPr/>
        </p:nvSpPr>
        <p:spPr>
          <a:xfrm>
            <a:off x="7581134" y="2695567"/>
            <a:ext cx="925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Thread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556A3E-64EC-603D-FBCD-26E3EFA8861F}"/>
              </a:ext>
            </a:extLst>
          </p:cNvPr>
          <p:cNvSpPr txBox="1"/>
          <p:nvPr/>
        </p:nvSpPr>
        <p:spPr>
          <a:xfrm>
            <a:off x="6199613" y="3248982"/>
            <a:ext cx="113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Compute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C326D2-7D2C-651D-E8F9-17D458386E6E}"/>
              </a:ext>
            </a:extLst>
          </p:cNvPr>
          <p:cNvSpPr txBox="1"/>
          <p:nvPr/>
        </p:nvSpPr>
        <p:spPr>
          <a:xfrm>
            <a:off x="7475082" y="3242081"/>
            <a:ext cx="113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Compute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C3211C-55BD-01C3-E14E-CC8F4426902F}"/>
              </a:ext>
            </a:extLst>
          </p:cNvPr>
          <p:cNvCxnSpPr>
            <a:cxnSpLocks/>
          </p:cNvCxnSpPr>
          <p:nvPr/>
        </p:nvCxnSpPr>
        <p:spPr>
          <a:xfrm>
            <a:off x="5497830" y="3034121"/>
            <a:ext cx="0" cy="2995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FEA1EE-7B2C-7009-DF62-2981A3EFCF74}"/>
              </a:ext>
            </a:extLst>
          </p:cNvPr>
          <p:cNvCxnSpPr>
            <a:cxnSpLocks/>
          </p:cNvCxnSpPr>
          <p:nvPr/>
        </p:nvCxnSpPr>
        <p:spPr>
          <a:xfrm>
            <a:off x="6771113" y="3034121"/>
            <a:ext cx="0" cy="2995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92BB12-57E3-BB2F-7845-44502D6E6F4E}"/>
              </a:ext>
            </a:extLst>
          </p:cNvPr>
          <p:cNvCxnSpPr>
            <a:cxnSpLocks/>
          </p:cNvCxnSpPr>
          <p:nvPr/>
        </p:nvCxnSpPr>
        <p:spPr>
          <a:xfrm>
            <a:off x="8044025" y="3025034"/>
            <a:ext cx="0" cy="2995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36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2BF3-E3F2-E9B2-0BB3-0CB08F84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E30C4-FA1F-F871-3503-50AF82AC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6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D83E35D9-5B65-0FA1-22AD-367442C53E3F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C302CC-C8FB-018F-BE2B-4A72B72256B9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A7CE258-A410-A894-905F-33AD278629B4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8724D-3430-7C49-B474-9D4A031DE61D}"/>
              </a:ext>
            </a:extLst>
          </p:cNvPr>
          <p:cNvSpPr txBox="1"/>
          <p:nvPr/>
        </p:nvSpPr>
        <p:spPr>
          <a:xfrm>
            <a:off x="1380806" y="4172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programming Code explanation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4A7AF8-0852-0F98-9933-525C2925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650" y="1329970"/>
            <a:ext cx="3965951" cy="3711137"/>
          </a:xfrm>
          <a:prstGeom prst="rect">
            <a:avLst/>
          </a:prstGeom>
        </p:spPr>
      </p:pic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0FD25AC-F6D8-3C39-4DB4-6B35A4915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917" y="538446"/>
            <a:ext cx="2831465" cy="718820"/>
          </a:xfrm>
          <a:prstGeom prst="rect">
            <a:avLst/>
          </a:prstGeom>
        </p:spPr>
      </p:pic>
      <p:pic>
        <p:nvPicPr>
          <p:cNvPr id="7" name="Picture 6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D994A3BE-3FB7-77AC-C467-8758F1FF5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62" y="1007587"/>
            <a:ext cx="4581525" cy="40335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B66B35-4333-7DFA-EAB3-0D91F92E6A39}"/>
              </a:ext>
            </a:extLst>
          </p:cNvPr>
          <p:cNvSpPr/>
          <p:nvPr/>
        </p:nvSpPr>
        <p:spPr>
          <a:xfrm>
            <a:off x="661639" y="2245113"/>
            <a:ext cx="3910361" cy="3266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A74ECB-8444-1687-D123-D3314AE9C6B4}"/>
              </a:ext>
            </a:extLst>
          </p:cNvPr>
          <p:cNvSpPr/>
          <p:nvPr/>
        </p:nvSpPr>
        <p:spPr>
          <a:xfrm>
            <a:off x="661638" y="3137999"/>
            <a:ext cx="3910361" cy="42374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5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11F0-6B93-0C76-531C-10050E51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56D70-E495-A57F-1A82-F755D323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D1F9-51D4-4914-8E0D-DC54B3A97F46}" type="slidenum">
              <a:rPr lang="en-US" smtClean="0"/>
              <a:t>7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4E596DD2-3B64-3469-E541-790B7DA41083}"/>
              </a:ext>
            </a:extLst>
          </p:cNvPr>
          <p:cNvSpPr txBox="1">
            <a:spLocks/>
          </p:cNvSpPr>
          <p:nvPr/>
        </p:nvSpPr>
        <p:spPr>
          <a:xfrm>
            <a:off x="50800" y="-20106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  <a:endParaRPr lang="en-US" sz="24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29841-2993-380E-3B1E-48C40B30937C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468A1DF-5007-3619-5C04-5785B27EC639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086E9-E900-1479-55EA-E3DB437C73E1}"/>
              </a:ext>
            </a:extLst>
          </p:cNvPr>
          <p:cNvSpPr txBox="1"/>
          <p:nvPr/>
        </p:nvSpPr>
        <p:spPr>
          <a:xfrm>
            <a:off x="314960" y="828843"/>
            <a:ext cx="85051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Two types of solution Parallel and Sequential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Three strings of different weights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CBE29D-DF1E-4CB0-3E88-69A2A0CAA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70442"/>
              </p:ext>
            </p:extLst>
          </p:nvPr>
        </p:nvGraphicFramePr>
        <p:xfrm>
          <a:off x="1473200" y="2219867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40082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48610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517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125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34,475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395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Very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68,950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8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875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2611-D6B1-F2AF-7F0F-FA035447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E6AD8-C317-7E32-ACBA-80556632D900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E573407-3286-0A83-AB8B-8AECEE86252D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E07841DC-4531-8C9D-5380-848711EB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FAE2350-4819-BBD7-974D-82DAD5109F54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217C44C0-AAB1-8707-E500-2D61F9A9C365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19B01991-AE5D-5F87-6400-CB2309142165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11721-44F6-1ACA-79E8-EB2651C82D1C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on small string</a:t>
            </a:r>
            <a:endParaRPr lang="en-US" sz="1800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723EE0-5236-1F7A-61C4-0A42F2DF8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99" y="799852"/>
            <a:ext cx="8249801" cy="3543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C4A41C6-A3ED-D606-70BD-BCEDBE8E6F4D}"/>
              </a:ext>
            </a:extLst>
          </p:cNvPr>
          <p:cNvSpPr txBox="1"/>
          <p:nvPr/>
        </p:nvSpPr>
        <p:spPr>
          <a:xfrm>
            <a:off x="3237847" y="4471715"/>
            <a:ext cx="524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Thread creation cost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3FF503-4895-58F6-3C5B-279EF4015968}"/>
              </a:ext>
            </a:extLst>
          </p:cNvPr>
          <p:cNvSpPr txBox="1"/>
          <p:nvPr/>
        </p:nvSpPr>
        <p:spPr>
          <a:xfrm>
            <a:off x="3715243" y="2343793"/>
            <a:ext cx="4955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Parallel computation time &gt; Sequential computation time</a:t>
            </a:r>
          </a:p>
        </p:txBody>
      </p:sp>
    </p:spTree>
    <p:extLst>
      <p:ext uri="{BB962C8B-B14F-4D97-AF65-F5344CB8AC3E}">
        <p14:creationId xmlns:p14="http://schemas.microsoft.com/office/powerpoint/2010/main" val="70977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A66A-71FA-4B58-F220-C0D0E866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E5D60-86EF-0EC5-DBD6-F1B0D63C3686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BCC9274F-E316-0CF2-FAEC-255BA27467C6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D6BF8D45-CD64-339B-F5A8-BB1D4E204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FD11F8B-1F55-4388-5DC9-72E805CB51D4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A3902F2C-8CDA-43BC-F60B-512DF560FB64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4306BE95-D2ED-57FB-5F9F-F99E39B4B2BE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C9038-4E02-EC0F-E8A8-7B63956EBD4A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/>
              <a:t>Memory overflow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73B47F-C2A8-06D1-7528-94197E20F730}"/>
              </a:ext>
            </a:extLst>
          </p:cNvPr>
          <p:cNvSpPr/>
          <p:nvPr/>
        </p:nvSpPr>
        <p:spPr>
          <a:xfrm>
            <a:off x="4484624" y="3648353"/>
            <a:ext cx="3303417" cy="525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Increased the size of allocated memory (string buffer)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BE3454-F57D-2E6E-1675-07B4A78FF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7" y="1026883"/>
            <a:ext cx="8909966" cy="2315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3A5932-B99A-BD27-DE82-F64454F0B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974" y="3531436"/>
            <a:ext cx="261021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34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8CC93-1B32-2445-92B7-EBBA82CA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CE968B-B1CD-C41E-9E63-D673FF806322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03AE01B5-1C2D-021E-A1E4-D9E4790DEA43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C2AA7B2C-E2E0-328F-0DC7-EB21AF421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7D6C53B-ED38-0DC7-1A1F-F61DBDFDBE4D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F384ABBD-2435-AAEC-047D-A783A8396406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BEF04CA-F626-783E-65A1-12CBE44B4586}"/>
              </a:ext>
            </a:extLst>
          </p:cNvPr>
          <p:cNvSpPr txBox="1"/>
          <p:nvPr/>
        </p:nvSpPr>
        <p:spPr>
          <a:xfrm>
            <a:off x="2010453" y="4423753"/>
            <a:ext cx="4948342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Parallel computation time &lt; Sequential computation time</a:t>
            </a:r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1F900047-D472-547C-C334-184A499AA5D5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97D8C-0415-0B5D-1AC7-6784031FDC6C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on large string</a:t>
            </a:r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63F96-F8C4-6EE6-7213-6798130C3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41" y="823668"/>
            <a:ext cx="8183117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42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E8A5-96F9-4FDA-F5D3-1875A5B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2FA538-9AEC-F513-D95A-DAB0606E3082}"/>
              </a:ext>
            </a:extLst>
          </p:cNvPr>
          <p:cNvSpPr txBox="1"/>
          <p:nvPr/>
        </p:nvSpPr>
        <p:spPr>
          <a:xfrm>
            <a:off x="124287" y="-16032"/>
            <a:ext cx="421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findings</a:t>
            </a:r>
            <a:endParaRPr lang="en-US" sz="2400" b="1" spc="-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3EB804BF-C315-5A0E-24C9-5F82B1556757}"/>
              </a:ext>
            </a:extLst>
          </p:cNvPr>
          <p:cNvCxnSpPr>
            <a:cxnSpLocks/>
          </p:cNvCxnSpPr>
          <p:nvPr/>
        </p:nvCxnSpPr>
        <p:spPr>
          <a:xfrm>
            <a:off x="10038645" y="-2202591"/>
            <a:ext cx="21728" cy="646010"/>
          </a:xfrm>
          <a:prstGeom prst="bentConnector3">
            <a:avLst>
              <a:gd name="adj1" fmla="val 2076973"/>
            </a:avLst>
          </a:prstGeom>
          <a:ln>
            <a:solidFill>
              <a:schemeClr val="tx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What is an API?">
            <a:extLst>
              <a:ext uri="{FF2B5EF4-FFF2-40B4-BE49-F238E27FC236}">
                <a16:creationId xmlns:a16="http://schemas.microsoft.com/office/drawing/2014/main" id="{8D999649-802E-BA22-8E5E-AE40E5389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630" y="-96290"/>
            <a:ext cx="145241" cy="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2426715-109A-80D7-2999-7EFF45F93AED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9ACAD85F-F78E-3EC2-4E73-8360C18FF7F0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3895AC9-3AAF-5BEB-F4D7-564CAE1E4ECE}"/>
              </a:ext>
            </a:extLst>
          </p:cNvPr>
          <p:cNvSpPr txBox="1"/>
          <p:nvPr/>
        </p:nvSpPr>
        <p:spPr>
          <a:xfrm>
            <a:off x="2055313" y="4417837"/>
            <a:ext cx="54638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Sequential computation failed but parallel computation persists</a:t>
            </a:r>
          </a:p>
        </p:txBody>
      </p:sp>
      <p:sp>
        <p:nvSpPr>
          <p:cNvPr id="156" name="Slide Number Placeholder 1">
            <a:extLst>
              <a:ext uri="{FF2B5EF4-FFF2-40B4-BE49-F238E27FC236}">
                <a16:creationId xmlns:a16="http://schemas.microsoft.com/office/drawing/2014/main" id="{88B7206F-AC92-8C5C-E576-D96D6B907668}"/>
              </a:ext>
            </a:extLst>
          </p:cNvPr>
          <p:cNvSpPr txBox="1">
            <a:spLocks/>
          </p:cNvSpPr>
          <p:nvPr/>
        </p:nvSpPr>
        <p:spPr>
          <a:xfrm>
            <a:off x="6612977" y="475545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6E96D-D112-F7CA-BE89-233ADEBB2211}"/>
              </a:ext>
            </a:extLst>
          </p:cNvPr>
          <p:cNvSpPr txBox="1"/>
          <p:nvPr/>
        </p:nvSpPr>
        <p:spPr>
          <a:xfrm>
            <a:off x="0" y="408003"/>
            <a:ext cx="9132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on Very large string</a:t>
            </a:r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070CA-681D-3DA5-B6B8-FF6DF649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94" y="909405"/>
            <a:ext cx="8326012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2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81EF-32F9-15BE-4524-C195027E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3934FA-F830-A6F5-3DB5-9F0AE353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1" y="4790580"/>
            <a:ext cx="2057400" cy="273844"/>
          </a:xfrm>
        </p:spPr>
        <p:txBody>
          <a:bodyPr/>
          <a:lstStyle/>
          <a:p>
            <a:fld id="{A800D1F9-51D4-4914-8E0D-DC54B3A97F46}" type="slidenum">
              <a:rPr lang="en-US" smtClean="0"/>
              <a:t>12</a:t>
            </a:fld>
            <a:endParaRPr lang="en-US"/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993400AC-DD69-F57A-3A05-A987048185ED}"/>
              </a:ext>
            </a:extLst>
          </p:cNvPr>
          <p:cNvSpPr txBox="1">
            <a:spLocks/>
          </p:cNvSpPr>
          <p:nvPr/>
        </p:nvSpPr>
        <p:spPr>
          <a:xfrm>
            <a:off x="50800" y="-49842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b="1" spc="-1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5CD9D2-61D2-576B-A866-3EE0BD6D9152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FB83DC0-6124-F944-9D77-5134810C96FE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5DD1FFD-C1D6-AE81-B611-2A917A1E52D8}"/>
              </a:ext>
            </a:extLst>
          </p:cNvPr>
          <p:cNvSpPr txBox="1"/>
          <p:nvPr/>
        </p:nvSpPr>
        <p:spPr>
          <a:xfrm>
            <a:off x="3493801" y="1261729"/>
            <a:ext cx="268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1: Result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1C30F7-B388-349F-9BA1-E87B6AA90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39985"/>
              </p:ext>
            </p:extLst>
          </p:nvPr>
        </p:nvGraphicFramePr>
        <p:xfrm>
          <a:off x="1597102" y="1892764"/>
          <a:ext cx="62087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020">
                  <a:extLst>
                    <a:ext uri="{9D8B030D-6E8A-4147-A177-3AD203B41FA5}">
                      <a16:colId xmlns:a16="http://schemas.microsoft.com/office/drawing/2014/main" val="3184008251"/>
                    </a:ext>
                  </a:extLst>
                </a:gridCol>
                <a:gridCol w="1119381">
                  <a:extLst>
                    <a:ext uri="{9D8B030D-6E8A-4147-A177-3AD203B41FA5}">
                      <a16:colId xmlns:a16="http://schemas.microsoft.com/office/drawing/2014/main" val="2948610766"/>
                    </a:ext>
                  </a:extLst>
                </a:gridCol>
                <a:gridCol w="1349117">
                  <a:extLst>
                    <a:ext uri="{9D8B030D-6E8A-4147-A177-3AD203B41FA5}">
                      <a16:colId xmlns:a16="http://schemas.microsoft.com/office/drawing/2014/main" val="2717010099"/>
                    </a:ext>
                  </a:extLst>
                </a:gridCol>
                <a:gridCol w="1349117">
                  <a:extLst>
                    <a:ext uri="{9D8B030D-6E8A-4147-A177-3AD203B41FA5}">
                      <a16:colId xmlns:a16="http://schemas.microsoft.com/office/drawing/2014/main" val="140244599"/>
                    </a:ext>
                  </a:extLst>
                </a:gridCol>
                <a:gridCol w="1349117">
                  <a:extLst>
                    <a:ext uri="{9D8B030D-6E8A-4147-A177-3AD203B41FA5}">
                      <a16:colId xmlns:a16="http://schemas.microsoft.com/office/drawing/2014/main" val="1992421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String.txt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matches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Serial (time)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Parallel (time)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17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 KB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0.000074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0.002483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125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34,475 KB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124200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0.021345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0.011250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395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Very Large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68,950 KB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1987200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Failed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0.260464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1878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77774D-C6D0-D1C3-23CB-FE53744392DF}"/>
              </a:ext>
            </a:extLst>
          </p:cNvPr>
          <p:cNvSpPr txBox="1"/>
          <p:nvPr/>
        </p:nvSpPr>
        <p:spPr>
          <a:xfrm>
            <a:off x="1468358" y="3881771"/>
            <a:ext cx="4971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Sequential programming is easier and faster for small data</a:t>
            </a:r>
          </a:p>
          <a:p>
            <a:r>
              <a:rPr lang="en-US" sz="1600" dirty="0"/>
              <a:t>Parallel programming is complex but faster for large data</a:t>
            </a:r>
          </a:p>
        </p:txBody>
      </p:sp>
    </p:spTree>
    <p:extLst>
      <p:ext uri="{BB962C8B-B14F-4D97-AF65-F5344CB8AC3E}">
        <p14:creationId xmlns:p14="http://schemas.microsoft.com/office/powerpoint/2010/main" val="370486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8D69-8C4B-96FA-32C0-9FF41E4F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F7F4C-C341-92C7-CE84-7DC29334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6C4A7AFC-11CA-48C6-9636-24FAC5BF0739}" type="slidenum">
              <a:rPr lang="en-US" sz="900" b="0" strike="noStrike" spc="-1" smtClean="0">
                <a:solidFill>
                  <a:srgbClr val="8B8B8B"/>
                </a:solidFill>
                <a:latin typeface="Calibri"/>
              </a:rPr>
              <a:t>13</a:t>
            </a:fld>
            <a:endParaRPr lang="en-US" sz="900" b="0" strike="noStrike" spc="-1" dirty="0">
              <a:latin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18F3A14-0B89-1E98-CB05-0D51DF3364FF}"/>
              </a:ext>
            </a:extLst>
          </p:cNvPr>
          <p:cNvSpPr txBox="1">
            <a:spLocks/>
          </p:cNvSpPr>
          <p:nvPr/>
        </p:nvSpPr>
        <p:spPr>
          <a:xfrm>
            <a:off x="828908" y="752148"/>
            <a:ext cx="7814051" cy="604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so much….</a:t>
            </a:r>
            <a:endParaRPr lang="en-US" sz="1800" b="1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DD4945-A489-6E3D-AA3F-115B37E648E8}"/>
              </a:ext>
            </a:extLst>
          </p:cNvPr>
          <p:cNvCxnSpPr>
            <a:cxnSpLocks/>
          </p:cNvCxnSpPr>
          <p:nvPr/>
        </p:nvCxnSpPr>
        <p:spPr>
          <a:xfrm>
            <a:off x="750848" y="561463"/>
            <a:ext cx="0" cy="858838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96A71E-464D-2765-2402-81FEB5067920}"/>
              </a:ext>
            </a:extLst>
          </p:cNvPr>
          <p:cNvCxnSpPr>
            <a:cxnSpLocks/>
          </p:cNvCxnSpPr>
          <p:nvPr/>
        </p:nvCxnSpPr>
        <p:spPr>
          <a:xfrm>
            <a:off x="8315091" y="564714"/>
            <a:ext cx="0" cy="858838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37FCF04-DF53-7622-CD40-46BD201517A8}"/>
              </a:ext>
            </a:extLst>
          </p:cNvPr>
          <p:cNvSpPr txBox="1">
            <a:spLocks/>
          </p:cNvSpPr>
          <p:nvPr/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00D1F9-51D4-4914-8E0D-DC54B3A97F4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D7B943D5-5195-5AB7-27AD-55E8B1FD701D}"/>
              </a:ext>
            </a:extLst>
          </p:cNvPr>
          <p:cNvSpPr txBox="1">
            <a:spLocks/>
          </p:cNvSpPr>
          <p:nvPr/>
        </p:nvSpPr>
        <p:spPr>
          <a:xfrm>
            <a:off x="50800" y="-5238"/>
            <a:ext cx="8940801" cy="5585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D56293-C132-2AA8-F2D9-2857249328C2}"/>
              </a:ext>
            </a:extLst>
          </p:cNvPr>
          <p:cNvCxnSpPr/>
          <p:nvPr/>
        </p:nvCxnSpPr>
        <p:spPr>
          <a:xfrm>
            <a:off x="125984" y="404368"/>
            <a:ext cx="8717280" cy="0"/>
          </a:xfrm>
          <a:prstGeom prst="line">
            <a:avLst/>
          </a:prstGeom>
          <a:ln>
            <a:solidFill>
              <a:srgbClr val="91BC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C6EA23C-C33E-9021-D428-46D478FD7A1A}"/>
              </a:ext>
            </a:extLst>
          </p:cNvPr>
          <p:cNvSpPr/>
          <p:nvPr/>
        </p:nvSpPr>
        <p:spPr>
          <a:xfrm>
            <a:off x="8820150" y="371475"/>
            <a:ext cx="53340" cy="55242"/>
          </a:xfrm>
          <a:prstGeom prst="ellipse">
            <a:avLst/>
          </a:prstGeom>
          <a:solidFill>
            <a:srgbClr val="91BCE3"/>
          </a:solidFill>
          <a:ln>
            <a:solidFill>
              <a:srgbClr val="91B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At the end of any presentation: &quot;Any Questions?&quot; : r/notinteresting">
            <a:extLst>
              <a:ext uri="{FF2B5EF4-FFF2-40B4-BE49-F238E27FC236}">
                <a16:creationId xmlns:a16="http://schemas.microsoft.com/office/drawing/2014/main" id="{C1FF9EC4-57AB-F275-6229-7E2DFBDDF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011" y="2167053"/>
            <a:ext cx="2504378" cy="250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51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47098</TotalTime>
  <Words>361</Words>
  <Application>Microsoft Office PowerPoint</Application>
  <PresentationFormat>On-screen Show (16:9)</PresentationFormat>
  <Paragraphs>117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Hossain Faruk, Md Jobair</dc:creator>
  <dc:description/>
  <cp:lastModifiedBy>Md Jahirul Islam</cp:lastModifiedBy>
  <cp:revision>845</cp:revision>
  <cp:lastPrinted>2021-09-08T16:15:24Z</cp:lastPrinted>
  <dcterms:created xsi:type="dcterms:W3CDTF">2021-05-23T20:47:35Z</dcterms:created>
  <dcterms:modified xsi:type="dcterms:W3CDTF">2025-10-08T21:22:47Z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25</vt:i4>
  </property>
</Properties>
</file>