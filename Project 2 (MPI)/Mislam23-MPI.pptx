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17"/>
  </p:notesMasterIdLst>
  <p:sldIdLst>
    <p:sldId id="302" r:id="rId2"/>
    <p:sldId id="375" r:id="rId3"/>
    <p:sldId id="415" r:id="rId4"/>
    <p:sldId id="329" r:id="rId5"/>
    <p:sldId id="414" r:id="rId6"/>
    <p:sldId id="376" r:id="rId7"/>
    <p:sldId id="417" r:id="rId8"/>
    <p:sldId id="408" r:id="rId9"/>
    <p:sldId id="421" r:id="rId10"/>
    <p:sldId id="419" r:id="rId11"/>
    <p:sldId id="418" r:id="rId12"/>
    <p:sldId id="420" r:id="rId13"/>
    <p:sldId id="369" r:id="rId14"/>
    <p:sldId id="422" r:id="rId15"/>
    <p:sldId id="407" r:id="rId16"/>
  </p:sldIdLst>
  <p:sldSz cx="9144000" cy="5143500" type="screen16x9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84E291"/>
    <a:srgbClr val="A6CAEC"/>
    <a:srgbClr val="A5A5A5"/>
    <a:srgbClr val="FFFF00"/>
    <a:srgbClr val="FFC000"/>
    <a:srgbClr val="C55A11"/>
    <a:srgbClr val="1E0909"/>
    <a:srgbClr val="A9D18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405" autoAdjust="0"/>
  </p:normalViewPr>
  <p:slideViewPr>
    <p:cSldViewPr snapToGrid="0">
      <p:cViewPr varScale="1">
        <p:scale>
          <a:sx n="94" d="100"/>
          <a:sy n="94" d="100"/>
        </p:scale>
        <p:origin x="269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7B6C1-C7FA-4972-ADA3-CC42B448C30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A347D-D72C-4510-B8D9-FC0B03AD9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29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B4A4D-0B5D-96AE-46FF-DBA49A7F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94976-530F-0D9B-3126-5F028E332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1BF02-10F4-868E-0972-0078FFF25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C131B-BB04-67F6-5C18-1F4917C00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9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E3ED-4893-7C81-7CB1-91A367D7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A6EDC-41BC-0FA8-4657-31A5A8E7B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CD6C2-7237-10E0-5C44-5C0AFEA4E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0F59A-C94F-5133-61E4-B14AE9787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4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5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5238-6B76-3197-95F4-29A57218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A1652-4E5E-1425-F001-5BE278559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90CBB-9102-0BE7-E7CD-72F8CE264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A21FE-5961-CB2F-A25E-DE10B3805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41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CAB3-BEA4-E0B2-D363-798AC5EB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A6749-6176-0C71-02DD-FB5D2508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7B171-D0A1-AAE2-B53E-EA6F6EFFD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FAD5F-B4A5-29B1-1C08-39F423B2B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1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272E-8515-581B-6E32-801333D3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B6A94-9CD7-D227-1043-E5012B4D1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BF426-183B-F9B2-2BF6-64CF0CDC5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5373-293D-7192-EEE4-2A56EB040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36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83DD-730A-9657-EB90-4B457346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90693-33C9-24BF-966A-1A5E174AE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06D05-35EA-AA1C-18D4-A1A5F1853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E6B9-B9E3-A106-C1B5-7844252A8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33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4B95-1188-47EE-6CF6-465F4E6E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063D-D125-2C6D-C673-2EB9E721A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AEAC7-D10A-6378-4D32-1228CB24B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9B96C-D072-A473-F1C2-333013168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4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3838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829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8632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563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779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EF1-929A-4203-9328-FDAB569E4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79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613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076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79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111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8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007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50B28-B0A5-81BA-F1CE-E0DBA9B1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1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339E3F8-5E6C-F66B-99C7-808F08B35523}"/>
              </a:ext>
            </a:extLst>
          </p:cNvPr>
          <p:cNvSpPr txBox="1">
            <a:spLocks/>
          </p:cNvSpPr>
          <p:nvPr/>
        </p:nvSpPr>
        <p:spPr>
          <a:xfrm>
            <a:off x="478069" y="856736"/>
            <a:ext cx="8457651" cy="137265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 Approximation Using MPI</a:t>
            </a:r>
            <a:endParaRPr lang="en-US" sz="14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endParaRPr lang="en-US" sz="14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900" spc="-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</a:t>
            </a:r>
            <a:r>
              <a:rPr lang="en-US" sz="29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Presentation for </a:t>
            </a:r>
          </a:p>
          <a:p>
            <a:pPr algn="ctr">
              <a:lnSpc>
                <a:spcPct val="100000"/>
              </a:lnSpc>
            </a:pPr>
            <a:r>
              <a:rPr lang="en-US" sz="2900" spc="-1" dirty="0">
                <a:solidFill>
                  <a:srgbClr val="000000"/>
                </a:solidFill>
                <a:latin typeface="Arial"/>
                <a:cs typeface="Arial"/>
              </a:rPr>
              <a:t>CS 8172 –Parallel-Distributed Computing-Fall 2025</a:t>
            </a:r>
            <a:endParaRPr lang="en-US" sz="2900" b="1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lang="en-US" sz="20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781950D7-435B-F286-1EBC-6C4048D403AE}"/>
              </a:ext>
            </a:extLst>
          </p:cNvPr>
          <p:cNvSpPr txBox="1">
            <a:spLocks/>
          </p:cNvSpPr>
          <p:nvPr/>
        </p:nvSpPr>
        <p:spPr>
          <a:xfrm>
            <a:off x="208280" y="2703761"/>
            <a:ext cx="8727440" cy="558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rgbClr val="000000"/>
                </a:solidFill>
              </a:rPr>
              <a:t>Md Jahirul Islam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</a:rPr>
              <a:t>001120708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</a:rPr>
              <a:t>Kennesaw State University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2089381E-8A09-7EB0-4468-D71E1531DC20}"/>
              </a:ext>
            </a:extLst>
          </p:cNvPr>
          <p:cNvSpPr txBox="1">
            <a:spLocks/>
          </p:cNvSpPr>
          <p:nvPr/>
        </p:nvSpPr>
        <p:spPr>
          <a:xfrm>
            <a:off x="208280" y="3477618"/>
            <a:ext cx="8727440" cy="1022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Course Instructor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</a:rPr>
              <a:t>Dr. Bobin Deng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/>
          </a:p>
        </p:txBody>
      </p:sp>
      <p:pic>
        <p:nvPicPr>
          <p:cNvPr id="1026" name="Picture 2" descr="KSU | Faculty Web - Capstone projects for Industry">
            <a:extLst>
              <a:ext uri="{FF2B5EF4-FFF2-40B4-BE49-F238E27FC236}">
                <a16:creationId xmlns:a16="http://schemas.microsoft.com/office/drawing/2014/main" id="{2A337275-B665-5B39-B773-8E33D54FE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960" y="4329549"/>
            <a:ext cx="1528704" cy="42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74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64CF4-B1AE-FCAD-BD20-514491AD9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B45780BA-39CD-6C8E-5A4B-0B31BC27A588}"/>
              </a:ext>
            </a:extLst>
          </p:cNvPr>
          <p:cNvSpPr txBox="1">
            <a:spLocks/>
          </p:cNvSpPr>
          <p:nvPr/>
        </p:nvSpPr>
        <p:spPr>
          <a:xfrm>
            <a:off x="257594" y="-87684"/>
            <a:ext cx="2513173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000" b="1" kern="1200" spc="-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Presentation Outline</a:t>
            </a:r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A4E0E9CF-DCC6-B070-A5AA-A31169497F24}"/>
              </a:ext>
            </a:extLst>
          </p:cNvPr>
          <p:cNvSpPr>
            <a:spLocks noGrp="1"/>
          </p:cNvSpPr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Introduction</a:t>
            </a:r>
            <a:r>
              <a:rPr lang="en-US" altLang="ja-JP" sz="2000" u="dashHeavy" baseline="42000" dirty="0">
                <a:latin typeface="+mn-lt"/>
                <a:ea typeface="+mn-ea"/>
              </a:rPr>
              <a:t>	</a:t>
            </a:r>
            <a:r>
              <a:rPr lang="en-US" altLang="ja-JP" sz="2000" dirty="0">
                <a:latin typeface="+mn-lt"/>
                <a:ea typeface="+mn-ea"/>
              </a:rPr>
              <a:t> 3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Experimental setup</a:t>
            </a:r>
            <a:r>
              <a:rPr lang="en-US" altLang="ja-JP" sz="2000" u="dashHeavy" baseline="42000" dirty="0">
                <a:latin typeface="+mn-lt"/>
                <a:ea typeface="+mn-ea"/>
              </a:rPr>
              <a:t>	</a:t>
            </a:r>
            <a:r>
              <a:rPr lang="en-US" altLang="ja-JP" sz="2000" dirty="0">
                <a:latin typeface="+mn-lt"/>
                <a:ea typeface="+mn-ea"/>
              </a:rPr>
              <a:t> 5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Calibri body"/>
              </a:rPr>
              <a:t>Methodology</a:t>
            </a:r>
            <a:r>
              <a:rPr lang="en-US" altLang="ja-JP" sz="2000" u="dashHeavy" baseline="42000" dirty="0">
                <a:latin typeface="Calibri body"/>
              </a:rPr>
              <a:t>	</a:t>
            </a:r>
            <a:r>
              <a:rPr lang="en-US" altLang="ja-JP" sz="2000" dirty="0">
                <a:latin typeface="Calibri body"/>
              </a:rPr>
              <a:t> 6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Result analysis</a:t>
            </a:r>
            <a:r>
              <a:rPr lang="en-US" altLang="ja-JP" sz="2000" u="dashHeavy" baseline="42000" dirty="0">
                <a:latin typeface="+mn-lt"/>
                <a:ea typeface="+mn-ea"/>
              </a:rPr>
              <a:t>	</a:t>
            </a:r>
            <a:r>
              <a:rPr lang="en-US" altLang="ja-JP" sz="2000" dirty="0">
                <a:latin typeface="+mn-lt"/>
                <a:ea typeface="+mn-ea"/>
              </a:rPr>
              <a:t> 8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Conclusion </a:t>
            </a:r>
            <a:r>
              <a:rPr lang="en-US" altLang="ja-JP" sz="2000" u="dashHeavy" baseline="42000" dirty="0">
                <a:latin typeface="+mn-lt"/>
                <a:ea typeface="+mn-ea"/>
              </a:rPr>
              <a:t>	</a:t>
            </a:r>
            <a:r>
              <a:rPr lang="en-US" altLang="ja-JP" sz="2000" dirty="0">
                <a:latin typeface="+mn-lt"/>
                <a:ea typeface="+mn-ea"/>
              </a:rPr>
              <a:t> 12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25194-1529-9946-46CD-95374281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4841748"/>
            <a:ext cx="336042" cy="273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800D1F9-51D4-4914-8E0D-DC54B3A97F46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38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8845-32B1-7725-CAB8-1F478641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DA314-782D-2E35-82F6-D8846899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3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A0865077-FA10-A6B1-01D0-1A82DCF68678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514DED-548A-9EF1-F32F-C437B15110B3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2986D17-409A-966A-7835-5247316F3BC2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EA0B9-6945-0273-0BEE-84C191A682D5}"/>
              </a:ext>
            </a:extLst>
          </p:cNvPr>
          <p:cNvSpPr txBox="1"/>
          <p:nvPr/>
        </p:nvSpPr>
        <p:spPr>
          <a:xfrm>
            <a:off x="268605" y="989142"/>
            <a:ext cx="8505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Message Passing Interface (MPI) enables distributed parallel computing by allowing processes to communicate through message passing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078BF-EE6D-850C-847E-0E33CB84A31B}"/>
              </a:ext>
            </a:extLst>
          </p:cNvPr>
          <p:cNvSpPr txBox="1"/>
          <p:nvPr/>
        </p:nvSpPr>
        <p:spPr>
          <a:xfrm>
            <a:off x="1554434" y="475904"/>
            <a:ext cx="6013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MPI</a:t>
            </a:r>
            <a:endParaRPr lang="en-US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92DCE1-E7BE-5D35-D242-B364E7A04F26}"/>
              </a:ext>
            </a:extLst>
          </p:cNvPr>
          <p:cNvSpPr/>
          <p:nvPr/>
        </p:nvSpPr>
        <p:spPr>
          <a:xfrm>
            <a:off x="2378921" y="2111746"/>
            <a:ext cx="4505093" cy="1036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1F55FB-889D-EA32-E807-0F3A6F78EFB3}"/>
              </a:ext>
            </a:extLst>
          </p:cNvPr>
          <p:cNvSpPr/>
          <p:nvPr/>
        </p:nvSpPr>
        <p:spPr>
          <a:xfrm>
            <a:off x="2919665" y="2866319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180E49-2B65-A0F8-1C9A-E0350DC7C23C}"/>
              </a:ext>
            </a:extLst>
          </p:cNvPr>
          <p:cNvSpPr/>
          <p:nvPr/>
        </p:nvSpPr>
        <p:spPr>
          <a:xfrm>
            <a:off x="4170088" y="2866319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EBE78E-2E8B-A282-A439-E184ABF4F727}"/>
              </a:ext>
            </a:extLst>
          </p:cNvPr>
          <p:cNvSpPr/>
          <p:nvPr/>
        </p:nvSpPr>
        <p:spPr>
          <a:xfrm>
            <a:off x="5388545" y="2866318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 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1721A0-ED6F-F814-F927-815CD9C6A5E7}"/>
              </a:ext>
            </a:extLst>
          </p:cNvPr>
          <p:cNvCxnSpPr>
            <a:cxnSpLocks/>
          </p:cNvCxnSpPr>
          <p:nvPr/>
        </p:nvCxnSpPr>
        <p:spPr>
          <a:xfrm>
            <a:off x="3468305" y="3137664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3D4B3A-505B-94EF-5D99-BBC33E24B445}"/>
              </a:ext>
            </a:extLst>
          </p:cNvPr>
          <p:cNvCxnSpPr>
            <a:cxnSpLocks/>
          </p:cNvCxnSpPr>
          <p:nvPr/>
        </p:nvCxnSpPr>
        <p:spPr>
          <a:xfrm>
            <a:off x="4733875" y="3137663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6919E2A-0C35-1663-4DD0-1EFD8BDFB4E6}"/>
              </a:ext>
            </a:extLst>
          </p:cNvPr>
          <p:cNvCxnSpPr>
            <a:cxnSpLocks/>
          </p:cNvCxnSpPr>
          <p:nvPr/>
        </p:nvCxnSpPr>
        <p:spPr>
          <a:xfrm>
            <a:off x="6014500" y="3141606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67484F-E3FA-59E4-4261-A2B691FF1DD8}"/>
              </a:ext>
            </a:extLst>
          </p:cNvPr>
          <p:cNvSpPr txBox="1"/>
          <p:nvPr/>
        </p:nvSpPr>
        <p:spPr>
          <a:xfrm>
            <a:off x="3005414" y="3530778"/>
            <a:ext cx="9257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CPU</a:t>
            </a:r>
          </a:p>
          <a:p>
            <a:pPr algn="ctr"/>
            <a:r>
              <a:rPr lang="en-US" sz="1600" dirty="0"/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6D79A1-B46C-1E6E-562A-31D96BC1E488}"/>
              </a:ext>
            </a:extLst>
          </p:cNvPr>
          <p:cNvSpPr txBox="1"/>
          <p:nvPr/>
        </p:nvSpPr>
        <p:spPr>
          <a:xfrm>
            <a:off x="4255837" y="3530777"/>
            <a:ext cx="9257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CPU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A188B9-0149-5462-327E-D0C1488FDA71}"/>
              </a:ext>
            </a:extLst>
          </p:cNvPr>
          <p:cNvSpPr txBox="1"/>
          <p:nvPr/>
        </p:nvSpPr>
        <p:spPr>
          <a:xfrm>
            <a:off x="5551609" y="3530776"/>
            <a:ext cx="9257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CPU</a:t>
            </a:r>
          </a:p>
          <a:p>
            <a:pPr algn="ctr"/>
            <a:r>
              <a:rPr lang="en-US" sz="1600" dirty="0"/>
              <a:t>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52EDE8-6685-72BC-22D6-B99081DE0006}"/>
              </a:ext>
            </a:extLst>
          </p:cNvPr>
          <p:cNvSpPr txBox="1"/>
          <p:nvPr/>
        </p:nvSpPr>
        <p:spPr>
          <a:xfrm>
            <a:off x="2378922" y="2304584"/>
            <a:ext cx="4505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MPI_COMM_WORLD</a:t>
            </a:r>
            <a:endParaRPr lang="en-US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EFEDE7E-3320-CE6F-831F-204E79C83867}"/>
              </a:ext>
            </a:extLst>
          </p:cNvPr>
          <p:cNvCxnSpPr>
            <a:stCxn id="18" idx="2"/>
            <a:endCxn id="19" idx="2"/>
          </p:cNvCxnSpPr>
          <p:nvPr/>
        </p:nvCxnSpPr>
        <p:spPr>
          <a:xfrm rot="5400000" flipH="1" flipV="1">
            <a:off x="4093515" y="3490341"/>
            <a:ext cx="1" cy="1250423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A8BE29D-E8F7-0B3E-CED5-53B16AEB3765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 rot="5400000" flipH="1" flipV="1">
            <a:off x="5366613" y="3467666"/>
            <a:ext cx="1" cy="1295772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9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50B28-B0A5-81BA-F1CE-E0DBA9B1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4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339E3F8-5E6C-F66B-99C7-808F08B35523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 (Problem Statement)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482478-DAF9-DB21-2C73-1E4FE543F288}"/>
              </a:ext>
            </a:extLst>
          </p:cNvPr>
          <p:cNvCxnSpPr/>
          <p:nvPr/>
        </p:nvCxnSpPr>
        <p:spPr>
          <a:xfrm>
            <a:off x="125984" y="456406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DE6BF00-F074-6ECA-7ABA-A0E839884AA1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34A30-A99A-EFDA-F9A0-996E89D95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85" y="1327978"/>
            <a:ext cx="2290623" cy="77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34793C-CA59-F0E9-7E07-6F81C5AB4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727" y="1241320"/>
            <a:ext cx="2290623" cy="9437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E2C5E9-35BE-B171-F586-249BCA19BF93}"/>
              </a:ext>
            </a:extLst>
          </p:cNvPr>
          <p:cNvSpPr txBox="1"/>
          <p:nvPr/>
        </p:nvSpPr>
        <p:spPr>
          <a:xfrm>
            <a:off x="125984" y="2336262"/>
            <a:ext cx="89408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program is slower as the number of steps NUMSTEPS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MPI-based parallel versions: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Version 1: Uses </a:t>
            </a:r>
            <a:r>
              <a:rPr lang="en-US" dirty="0" err="1"/>
              <a:t>MPI_Reduce</a:t>
            </a:r>
            <a:r>
              <a:rPr lang="en-US" dirty="0"/>
              <a:t> for efficient aggregation.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Version 2: Uses </a:t>
            </a:r>
            <a:r>
              <a:rPr lang="en-US" dirty="0" err="1"/>
              <a:t>MPI_Bcast</a:t>
            </a:r>
            <a:r>
              <a:rPr lang="en-US" dirty="0"/>
              <a:t> and </a:t>
            </a:r>
            <a:r>
              <a:rPr lang="en-US" dirty="0" err="1"/>
              <a:t>MPI_Gather</a:t>
            </a:r>
            <a:r>
              <a:rPr lang="en-US" dirty="0"/>
              <a:t> for explicit data distribution and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Compare accuracy, scalability, and execution time.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04D90-3DB2-4030-036E-F730227C2A88}"/>
              </a:ext>
            </a:extLst>
          </p:cNvPr>
          <p:cNvSpPr txBox="1"/>
          <p:nvPr/>
        </p:nvSpPr>
        <p:spPr>
          <a:xfrm>
            <a:off x="535259" y="792157"/>
            <a:ext cx="4951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Approximate the value of </a:t>
            </a:r>
            <a:r>
              <a:rPr lang="el-GR" dirty="0"/>
              <a:t> π</a:t>
            </a:r>
            <a:r>
              <a:rPr lang="en-US" dirty="0"/>
              <a:t> as a sum of rectangles</a:t>
            </a:r>
          </a:p>
        </p:txBody>
      </p:sp>
    </p:spTree>
    <p:extLst>
      <p:ext uri="{BB962C8B-B14F-4D97-AF65-F5344CB8AC3E}">
        <p14:creationId xmlns:p14="http://schemas.microsoft.com/office/powerpoint/2010/main" val="978240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11F0-6B93-0C76-531C-10050E51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56D70-E495-A57F-1A82-F755D323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5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4E596DD2-3B64-3469-E541-790B7DA41083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29841-2993-380E-3B1E-48C40B30937C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468A1DF-5007-3619-5C04-5785B27EC639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086E9-E900-1479-55EA-E3DB437C73E1}"/>
              </a:ext>
            </a:extLst>
          </p:cNvPr>
          <p:cNvSpPr txBox="1"/>
          <p:nvPr/>
        </p:nvSpPr>
        <p:spPr>
          <a:xfrm>
            <a:off x="486411" y="1304629"/>
            <a:ext cx="85051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Two Versions of solution Reduce, and Broadcast + Gather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Number or processes = 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Numsteps</a:t>
            </a:r>
            <a:r>
              <a:rPr lang="en-US" sz="2000" dirty="0"/>
              <a:t> = 10</a:t>
            </a:r>
            <a:r>
              <a:rPr lang="en-US" sz="2000" baseline="30000" dirty="0"/>
              <a:t>3</a:t>
            </a:r>
            <a:r>
              <a:rPr lang="en-US" sz="2000" dirty="0"/>
              <a:t>, 10</a:t>
            </a:r>
            <a:r>
              <a:rPr lang="en-US" sz="2000" baseline="30000" dirty="0"/>
              <a:t>4</a:t>
            </a:r>
            <a:r>
              <a:rPr lang="en-US" sz="2000" dirty="0"/>
              <a:t>, 10</a:t>
            </a:r>
            <a:r>
              <a:rPr lang="en-US" sz="2000" baseline="30000" dirty="0"/>
              <a:t>5</a:t>
            </a:r>
            <a:r>
              <a:rPr lang="en-US" sz="2000" dirty="0"/>
              <a:t>, 10</a:t>
            </a:r>
            <a:r>
              <a:rPr lang="en-US" sz="2000" baseline="30000" dirty="0"/>
              <a:t>6</a:t>
            </a:r>
            <a:r>
              <a:rPr lang="en-US" sz="2000" dirty="0"/>
              <a:t>,…10</a:t>
            </a:r>
            <a:r>
              <a:rPr lang="en-US" sz="2000" baseline="300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4487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2BF3-E3F2-E9B2-0BB3-0CB08F8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E30C4-FA1F-F871-3503-50AF82AC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6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D83E35D9-5B65-0FA1-22AD-367442C53E3F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C302CC-C8FB-018F-BE2B-4A72B72256B9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A7CE258-A410-A894-905F-33AD278629B4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8724D-3430-7C49-B474-9D4A031DE61D}"/>
              </a:ext>
            </a:extLst>
          </p:cNvPr>
          <p:cNvSpPr txBox="1"/>
          <p:nvPr/>
        </p:nvSpPr>
        <p:spPr>
          <a:xfrm>
            <a:off x="2592572" y="462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sng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Pi_Reduce</a:t>
            </a:r>
            <a:r>
              <a:rPr lang="en-US" sz="1800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explanation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566EAB-5FAE-F64F-F3DB-1245F7A9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9" r="12257"/>
          <a:stretch>
            <a:fillRect/>
          </a:stretch>
        </p:blipFill>
        <p:spPr>
          <a:xfrm>
            <a:off x="49273" y="1447076"/>
            <a:ext cx="3132541" cy="20990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AE0D606-4257-0FB1-7407-3134356B4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84" y="450585"/>
            <a:ext cx="5712017" cy="474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5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A022-D4A6-CC1C-761E-88DDC231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4A438-775E-ABDE-0B23-73B38A6E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7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0691A82E-0D78-4B4A-C81B-137016198CC9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4B2E38-930C-C6D8-CB12-8E1B56334EA4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F2DD30D-BC06-D304-70B8-90991E1EE618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95F0-FD71-6BED-B2B8-127DB7FE1914}"/>
              </a:ext>
            </a:extLst>
          </p:cNvPr>
          <p:cNvSpPr txBox="1"/>
          <p:nvPr/>
        </p:nvSpPr>
        <p:spPr>
          <a:xfrm>
            <a:off x="2592572" y="462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sng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Pi_Bcast&amp;Gather</a:t>
            </a:r>
            <a:r>
              <a:rPr lang="en-US" sz="1800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explanation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72F0CA-0A88-33DA-54BB-87D7F5A1E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" y="1488163"/>
            <a:ext cx="3375908" cy="21671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BBBDA1-6FC4-76AF-19E5-72E72E02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54" y="420898"/>
            <a:ext cx="5234036" cy="472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6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2611-D6B1-F2AF-7F0F-FA035447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E6AD8-C317-7E32-ACBA-80556632D900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573407-3286-0A83-AB8B-8AECEE86252D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E07841DC-4531-8C9D-5380-848711EB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FAE2350-4819-BBD7-974D-82DAD5109F54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17C44C0-AAB1-8707-E500-2D61F9A9C365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19B01991-AE5D-5F87-6400-CB2309142165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11721-44F6-1ACA-79E8-EB2651C82D1C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Sequential</a:t>
            </a:r>
            <a:endParaRPr lang="en-US" sz="18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9D9C16-77D6-0A73-B11F-D4A1CE629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1224849"/>
            <a:ext cx="8973802" cy="24196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3FF503-4895-58F6-3C5B-279EF4015968}"/>
              </a:ext>
            </a:extLst>
          </p:cNvPr>
          <p:cNvSpPr txBox="1"/>
          <p:nvPr/>
        </p:nvSpPr>
        <p:spPr>
          <a:xfrm>
            <a:off x="3583258" y="3305983"/>
            <a:ext cx="1940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Stuck after 10</a:t>
            </a:r>
            <a:r>
              <a:rPr lang="en-US" sz="1600" baseline="30000" dirty="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977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7063-1B0F-AA93-2243-D078FD8F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0AA058-3416-0F45-7FC3-F797B41B88C7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16C7A6C-85E2-318B-81E6-69EEEA3347E5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314B7239-2175-0842-148D-1326B6438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786A01E-4A87-FB77-8570-30522CBC899F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89677A7A-94B8-68BF-9A07-F7D804E9D6DB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9524FAA2-C2DC-C144-3DEF-F1EF2F00D687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062A0-DCB6-8CC0-C526-A47051A62594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Sequential</a:t>
            </a:r>
            <a:endParaRPr lang="en-US" sz="1800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60C9A-06FE-7FFB-998F-D415F4265B41}"/>
              </a:ext>
            </a:extLst>
          </p:cNvPr>
          <p:cNvSpPr txBox="1"/>
          <p:nvPr/>
        </p:nvSpPr>
        <p:spPr>
          <a:xfrm>
            <a:off x="3583258" y="3305983"/>
            <a:ext cx="1940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Stuck after 10</a:t>
            </a:r>
            <a:r>
              <a:rPr lang="en-US" sz="1600" baseline="30000" dirty="0">
                <a:solidFill>
                  <a:srgbClr val="FFFF00"/>
                </a:solidFill>
              </a:rPr>
              <a:t>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B228D-F4C6-4554-4805-F29249EF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4" y="1452406"/>
            <a:ext cx="880232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04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74D-F5A2-7EC3-5B13-B6E04DC9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064120-0736-F9AB-ABBF-77F4D9162196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3F59CAF-76A6-D19D-ED2F-E019A7A1BA1D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100884EA-80F8-9B86-3C11-731D71398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552BF45-0539-97AA-82BE-3192561406F0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C3A6BE4F-8D0F-5BA3-4BD1-AD9886C1E23E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FB4CA326-7961-2E2C-229C-DFDC5EAA6963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A26ED-15A3-433B-47C3-FA16F66F0EFD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version1 (Reduce)</a:t>
            </a:r>
            <a:endParaRPr lang="en-US" sz="1800" u="sng" dirty="0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B3C508D-64DE-8F00-5235-1FC572EEC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33" y="1201370"/>
            <a:ext cx="8049950" cy="26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9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C4F5-336B-8534-61A2-925C0475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D7B70E-23B4-EDF3-491C-F7FE3835940F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8E7AE30-6094-C957-7D8C-D01146DEC242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F1EDE03E-C3B8-0474-C5B5-23F4BB9E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23AA69A-3682-FCEF-65FC-5E5738F584F6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3D590FBA-754A-ADBF-B753-BA6331A5AF49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97EA2522-734B-20D2-4EED-56C1DA15C493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C829-446D-51FA-828C-B4C117ACB6F1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version2 (</a:t>
            </a:r>
            <a:r>
              <a:rPr lang="en-US" b="1" u="sng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Bcast&amp;Gather</a:t>
            </a:r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u="sng" dirty="0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879D18B-2272-FF3A-B416-267A7E3A1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8" y="1520099"/>
            <a:ext cx="7936963" cy="230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45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D8B4-CED9-8BAB-E524-DE70F589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65D67D-CA30-8E27-C7E0-E0C8DE226C52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E542760-29CF-1C54-F466-1A5A798A7A85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D71ECB19-49EF-A126-59A5-FC58D72E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5503891-0A8C-6718-EEB8-52DC3261E52B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62C0F58B-8437-4B4C-36F5-5056E5BF7A6D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11282461-2BD7-9BE0-BA1C-B62F0C3E089B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39D84-AF95-73BF-83F6-D5A653930F47}"/>
              </a:ext>
            </a:extLst>
          </p:cNvPr>
          <p:cNvSpPr txBox="1"/>
          <p:nvPr/>
        </p:nvSpPr>
        <p:spPr>
          <a:xfrm>
            <a:off x="0" y="593267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Time Comparison of Sequential and MPI Implementations</a:t>
            </a:r>
            <a:endParaRPr lang="en-US" sz="18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DD4054-A081-ED2C-87E6-14CD71BD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2"/>
          <a:stretch>
            <a:fillRect/>
          </a:stretch>
        </p:blipFill>
        <p:spPr>
          <a:xfrm>
            <a:off x="670907" y="966244"/>
            <a:ext cx="7627434" cy="392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87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81EF-32F9-15BE-4524-C195027E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3934FA-F830-A6F5-3DB5-9F0AE353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1" y="4790580"/>
            <a:ext cx="2057400" cy="273844"/>
          </a:xfrm>
        </p:spPr>
        <p:txBody>
          <a:bodyPr/>
          <a:lstStyle/>
          <a:p>
            <a:fld id="{A800D1F9-51D4-4914-8E0D-DC54B3A97F46}" type="slidenum">
              <a:rPr lang="en-US" smtClean="0"/>
              <a:t>13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993400AC-DD69-F57A-3A05-A987048185ED}"/>
              </a:ext>
            </a:extLst>
          </p:cNvPr>
          <p:cNvSpPr txBox="1">
            <a:spLocks/>
          </p:cNvSpPr>
          <p:nvPr/>
        </p:nvSpPr>
        <p:spPr>
          <a:xfrm>
            <a:off x="50800" y="-49842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5CD9D2-61D2-576B-A866-3EE0BD6D9152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FB83DC0-6124-F944-9D77-5134810C96FE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5DD1FFD-C1D6-AE81-B611-2A917A1E52D8}"/>
              </a:ext>
            </a:extLst>
          </p:cNvPr>
          <p:cNvSpPr txBox="1"/>
          <p:nvPr/>
        </p:nvSpPr>
        <p:spPr>
          <a:xfrm>
            <a:off x="3461710" y="404368"/>
            <a:ext cx="268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1: Result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774D-C6D0-D1C3-23CB-FE53744392DF}"/>
              </a:ext>
            </a:extLst>
          </p:cNvPr>
          <p:cNvSpPr txBox="1"/>
          <p:nvPr/>
        </p:nvSpPr>
        <p:spPr>
          <a:xfrm>
            <a:off x="2935514" y="4813431"/>
            <a:ext cx="3098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SpeedUp and Efficiency Calculation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A414F5-C4F2-88A0-AC34-83A7C8835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63185"/>
              </p:ext>
            </p:extLst>
          </p:nvPr>
        </p:nvGraphicFramePr>
        <p:xfrm>
          <a:off x="217424" y="734191"/>
          <a:ext cx="85344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125964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067571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54276623"/>
                    </a:ext>
                  </a:extLst>
                </a:gridCol>
                <a:gridCol w="1455259">
                  <a:extLst>
                    <a:ext uri="{9D8B030D-6E8A-4147-A177-3AD203B41FA5}">
                      <a16:colId xmlns:a16="http://schemas.microsoft.com/office/drawing/2014/main" val="200679048"/>
                    </a:ext>
                  </a:extLst>
                </a:gridCol>
                <a:gridCol w="1204332">
                  <a:extLst>
                    <a:ext uri="{9D8B030D-6E8A-4147-A177-3AD203B41FA5}">
                      <a16:colId xmlns:a16="http://schemas.microsoft.com/office/drawing/2014/main" val="581755606"/>
                    </a:ext>
                  </a:extLst>
                </a:gridCol>
                <a:gridCol w="998009">
                  <a:extLst>
                    <a:ext uri="{9D8B030D-6E8A-4147-A177-3AD203B41FA5}">
                      <a16:colId xmlns:a16="http://schemas.microsoft.com/office/drawing/2014/main" val="40547558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7569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NUMSTEPS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Sequential (ns)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MPI Reduce (s)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MPI </a:t>
                      </a:r>
                      <a:r>
                        <a:rPr lang="en-US" sz="1300" b="1" dirty="0" err="1"/>
                        <a:t>B&amp;Gather</a:t>
                      </a:r>
                      <a:r>
                        <a:rPr lang="en-US" sz="1300" b="1" dirty="0"/>
                        <a:t> (s)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Speedup (R)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Efficiency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1" dirty="0"/>
                        <a:t>Speedup (G)</a:t>
                      </a:r>
                      <a:endParaRPr lang="en-US" sz="1300" dirty="0"/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18661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10³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4.13 × 10³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0.000056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0.000010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0.07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1.8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0.41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77679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10⁴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3.90 × 10⁴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0.000010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0.000008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3.90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97.5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4.88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374243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10⁵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3.90 × 10⁵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0.000061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0.000083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6.39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159.8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4.70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317220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10⁶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3.33 × 10⁶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0.000817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0.000816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4.07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101.7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4.08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68971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10⁷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2.62 × 10⁷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0.007263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0.008334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3.60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90.0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3.13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59773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10⁸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2.40 × 10⁸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0.064028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0.100874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3.74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93.5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2.38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42910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10⁹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2.35 (s)</a:t>
                      </a:r>
                    </a:p>
                  </a:txBody>
                  <a:tcPr marL="85892" marR="85892" marT="42946" marB="4294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0.799591</a:t>
                      </a:r>
                    </a:p>
                  </a:txBody>
                  <a:tcPr marL="85892" marR="85892" marT="42946" marB="4294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0.792669</a:t>
                      </a:r>
                    </a:p>
                  </a:txBody>
                  <a:tcPr marL="85892" marR="85892" marT="42946" marB="4294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2.94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73.5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2.96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206600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10¹⁰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6.838899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7.531375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20965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10¹¹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75.635151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80.385840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31270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10¹²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779.860864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790.781962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/>
                        <a:t>—</a:t>
                      </a:r>
                    </a:p>
                  </a:txBody>
                  <a:tcPr marL="85892" marR="85892" marT="42946" marB="429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dirty="0"/>
                        <a:t>—</a:t>
                      </a:r>
                    </a:p>
                  </a:txBody>
                  <a:tcPr marL="85892" marR="85892" marT="42946" marB="42946" anchor="ctr"/>
                </a:tc>
                <a:extLst>
                  <a:ext uri="{0D108BD9-81ED-4DB2-BD59-A6C34878D82A}">
                    <a16:rowId xmlns:a16="http://schemas.microsoft.com/office/drawing/2014/main" val="1167592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86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F81DC-802B-3126-B465-7A1F64AC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355714-C25E-7470-EA2F-56FE6913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1" y="4790580"/>
            <a:ext cx="2057400" cy="273844"/>
          </a:xfrm>
        </p:spPr>
        <p:txBody>
          <a:bodyPr/>
          <a:lstStyle/>
          <a:p>
            <a:fld id="{A800D1F9-51D4-4914-8E0D-DC54B3A97F46}" type="slidenum">
              <a:rPr lang="en-US" smtClean="0"/>
              <a:t>14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C1B6892-7F33-0062-6BB9-B4CB85736CC4}"/>
              </a:ext>
            </a:extLst>
          </p:cNvPr>
          <p:cNvSpPr txBox="1">
            <a:spLocks/>
          </p:cNvSpPr>
          <p:nvPr/>
        </p:nvSpPr>
        <p:spPr>
          <a:xfrm>
            <a:off x="50800" y="-49842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b="1" spc="-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5753E1-1E58-7379-E181-57BCB396CE83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D2D1E1-F0C9-C6B4-76B0-04BE242F6BD2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86597E2-C12D-4AFE-D0A5-A200F66797B7}"/>
              </a:ext>
            </a:extLst>
          </p:cNvPr>
          <p:cNvSpPr txBox="1"/>
          <p:nvPr/>
        </p:nvSpPr>
        <p:spPr>
          <a:xfrm>
            <a:off x="465749" y="1824290"/>
            <a:ext cx="6277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 time:</a:t>
            </a:r>
          </a:p>
          <a:p>
            <a:r>
              <a:rPr lang="en-US" dirty="0"/>
              <a:t>	Sequential &gt;&gt; </a:t>
            </a:r>
            <a:r>
              <a:rPr lang="en-US" dirty="0" err="1"/>
              <a:t>MPI_Bcast_Gather</a:t>
            </a:r>
            <a:r>
              <a:rPr lang="en-US" dirty="0"/>
              <a:t> &gt; </a:t>
            </a:r>
            <a:r>
              <a:rPr lang="en-US" dirty="0" err="1"/>
              <a:t>MPI_Reduce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38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8D69-8C4B-96FA-32C0-9FF41E4F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F7F4C-C341-92C7-CE84-7DC29334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15</a:t>
            </a:fld>
            <a:endParaRPr lang="en-US" sz="900" b="0" strike="noStrike" spc="-1" dirty="0">
              <a:latin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18F3A14-0B89-1E98-CB05-0D51DF3364FF}"/>
              </a:ext>
            </a:extLst>
          </p:cNvPr>
          <p:cNvSpPr txBox="1">
            <a:spLocks/>
          </p:cNvSpPr>
          <p:nvPr/>
        </p:nvSpPr>
        <p:spPr>
          <a:xfrm>
            <a:off x="828908" y="752148"/>
            <a:ext cx="7814051" cy="604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so much….</a:t>
            </a:r>
            <a:endParaRPr lang="en-US" sz="18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DD4945-A489-6E3D-AA3F-115B37E648E8}"/>
              </a:ext>
            </a:extLst>
          </p:cNvPr>
          <p:cNvCxnSpPr>
            <a:cxnSpLocks/>
          </p:cNvCxnSpPr>
          <p:nvPr/>
        </p:nvCxnSpPr>
        <p:spPr>
          <a:xfrm>
            <a:off x="750848" y="561463"/>
            <a:ext cx="0" cy="858838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96A71E-464D-2765-2402-81FEB5067920}"/>
              </a:ext>
            </a:extLst>
          </p:cNvPr>
          <p:cNvCxnSpPr>
            <a:cxnSpLocks/>
          </p:cNvCxnSpPr>
          <p:nvPr/>
        </p:nvCxnSpPr>
        <p:spPr>
          <a:xfrm>
            <a:off x="8315091" y="564714"/>
            <a:ext cx="0" cy="858838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37FCF04-DF53-7622-CD40-46BD201517A8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D7B943D5-5195-5AB7-27AD-55E8B1FD701D}"/>
              </a:ext>
            </a:extLst>
          </p:cNvPr>
          <p:cNvSpPr txBox="1">
            <a:spLocks/>
          </p:cNvSpPr>
          <p:nvPr/>
        </p:nvSpPr>
        <p:spPr>
          <a:xfrm>
            <a:off x="50800" y="-5238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D56293-C132-2AA8-F2D9-2857249328C2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C6EA23C-C33E-9021-D428-46D478FD7A1A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At the end of any presentation: &quot;Any Questions?&quot; : r/notinteresting">
            <a:extLst>
              <a:ext uri="{FF2B5EF4-FFF2-40B4-BE49-F238E27FC236}">
                <a16:creationId xmlns:a16="http://schemas.microsoft.com/office/drawing/2014/main" id="{C1FF9EC4-57AB-F275-6229-7E2DFBDDF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011" y="2167053"/>
            <a:ext cx="2504378" cy="250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51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47926</TotalTime>
  <Words>429</Words>
  <Application>Microsoft Office PowerPoint</Application>
  <PresentationFormat>On-screen Show (16:9)</PresentationFormat>
  <Paragraphs>169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 body</vt:lpstr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Hossain Faruk, Md Jobair</dc:creator>
  <dc:description/>
  <cp:lastModifiedBy>Md Jahirul Islam</cp:lastModifiedBy>
  <cp:revision>874</cp:revision>
  <cp:lastPrinted>2021-09-08T16:15:24Z</cp:lastPrinted>
  <dcterms:created xsi:type="dcterms:W3CDTF">2021-05-23T20:47:35Z</dcterms:created>
  <dcterms:modified xsi:type="dcterms:W3CDTF">2025-11-05T22:37:48Z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25</vt:i4>
  </property>
</Properties>
</file>